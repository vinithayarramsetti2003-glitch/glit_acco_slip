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3" r:id="rId1"/>
  </p:sldMasterIdLst>
  <p:sldIdLst>
    <p:sldId id="256" r:id="rId2"/>
    <p:sldId id="257" r:id="rId3"/>
    <p:sldId id="270" r:id="rId4"/>
    <p:sldId id="259" r:id="rId5"/>
    <p:sldId id="260" r:id="rId6"/>
    <p:sldId id="261" r:id="rId7"/>
    <p:sldId id="262" r:id="rId8"/>
    <p:sldId id="263" r:id="rId9"/>
    <p:sldId id="264" r:id="rId10"/>
    <p:sldId id="266" r:id="rId11"/>
    <p:sldId id="267" r:id="rId12"/>
    <p:sldId id="268" r:id="rId13"/>
    <p:sldId id="271" r:id="rId14"/>
    <p:sldId id="27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1594"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8466" y="-8468"/>
            <a:ext cx="9169804" cy="6874935"/>
            <a:chOff x="-8466" y="-8468"/>
            <a:chExt cx="9169804" cy="6874935"/>
          </a:xfrm>
        </p:grpSpPr>
        <p:cxnSp>
          <p:nvCxnSpPr>
            <p:cNvPr id="17" name="Straight Connector 16"/>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1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Freeform 2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2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Freeform 2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Freeform 23"/>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Freeform 24"/>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Freeform 2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382144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341826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689131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12/10/2025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624952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12/10/2025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212567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12/10/2025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254243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12/10/2025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065885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121731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625068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498974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778855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3264134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93502172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3833636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5355353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255441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69805" cy="6874935"/>
            <a:chOff x="-8467" y="-8468"/>
            <a:chExt cx="9169805"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BCAD085-E8A6-8845-BD4E-CB4CCA059FC4}" type="datetimeFigureOut">
              <a:rPr lang="en-US" smtClean="0"/>
              <a:t>12/10/2025</a:t>
            </a:fld>
            <a:endParaRPr lang="en-US"/>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145264236"/>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 id="2147483725" r:id="rId12"/>
    <p:sldLayoutId id="2147483726" r:id="rId13"/>
    <p:sldLayoutId id="2147483727" r:id="rId14"/>
    <p:sldLayoutId id="2147483728" r:id="rId15"/>
    <p:sldLayoutId id="214748372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8664" y="161517"/>
            <a:ext cx="8229600" cy="1143000"/>
          </a:xfrm>
        </p:spPr>
        <p:txBody>
          <a:bodyPr>
            <a:normAutofit/>
          </a:bodyPr>
          <a:lstStyle/>
          <a:p>
            <a:r>
              <a:rPr b="1" dirty="0"/>
              <a:t>Project Title</a:t>
            </a:r>
          </a:p>
        </p:txBody>
      </p:sp>
      <p:sp>
        <p:nvSpPr>
          <p:cNvPr id="3" name="Content Placeholder 2"/>
          <p:cNvSpPr>
            <a:spLocks noGrp="1"/>
          </p:cNvSpPr>
          <p:nvPr>
            <p:ph idx="1"/>
          </p:nvPr>
        </p:nvSpPr>
        <p:spPr>
          <a:xfrm>
            <a:off x="457200" y="1668545"/>
            <a:ext cx="8229600" cy="3610466"/>
          </a:xfrm>
        </p:spPr>
        <p:txBody>
          <a:bodyPr/>
          <a:lstStyle/>
          <a:p>
            <a:r>
              <a:rPr lang="en-IN" b="1" dirty="0"/>
              <a:t> </a:t>
            </a:r>
            <a:r>
              <a:rPr lang="en-IN" dirty="0"/>
              <a:t>Banking Data Platform Development </a:t>
            </a:r>
            <a:endParaRPr dirty="0"/>
          </a:p>
          <a:p>
            <a:r>
              <a:rPr dirty="0"/>
              <a:t>This project collects, processes, stores, and shows banking data like ATM transactions,</a:t>
            </a:r>
          </a:p>
          <a:p>
            <a:r>
              <a:rPr dirty="0"/>
              <a:t>UPI payments, customer information, and fraud alerts in a simple and automated way.</a:t>
            </a:r>
          </a:p>
          <a:p>
            <a:r>
              <a:rPr dirty="0"/>
              <a:t>Built end‑to‑end using Azure cloud services.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Objective of the Project</a:t>
            </a:r>
            <a:endParaRPr b="1" dirty="0"/>
          </a:p>
        </p:txBody>
      </p:sp>
      <p:sp>
        <p:nvSpPr>
          <p:cNvPr id="3" name="Content Placeholder 2"/>
          <p:cNvSpPr>
            <a:spLocks noGrp="1"/>
          </p:cNvSpPr>
          <p:nvPr>
            <p:ph idx="1"/>
          </p:nvPr>
        </p:nvSpPr>
        <p:spPr/>
        <p:txBody>
          <a:bodyPr>
            <a:normAutofit/>
          </a:bodyPr>
          <a:lstStyle/>
          <a:p>
            <a:r>
              <a:rPr lang="en-US" dirty="0"/>
              <a:t>The main objective of this project is to modernize the banking data system using Azure. It aims to bring all banking data such as ATM, UPI, and customer information, into one unified platform.</a:t>
            </a:r>
          </a:p>
          <a:p>
            <a:r>
              <a:rPr lang="en-US" dirty="0"/>
              <a:t>This helps the bank process data faster, detect fraud quickly, and generate accurate reports.</a:t>
            </a:r>
          </a:p>
          <a:p>
            <a:r>
              <a:rPr lang="en-US" dirty="0"/>
              <a:t>Overall, it improves the bank’s decision-making and customer service.</a:t>
            </a:r>
          </a:p>
          <a:p>
            <a:endParaRPr lang="en-US" dirty="0"/>
          </a:p>
          <a:p>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36F97F-8D84-EC37-7200-C26295607E03}"/>
              </a:ext>
            </a:extLst>
          </p:cNvPr>
          <p:cNvSpPr>
            <a:spLocks noGrp="1"/>
          </p:cNvSpPr>
          <p:nvPr>
            <p:ph type="title"/>
          </p:nvPr>
        </p:nvSpPr>
        <p:spPr/>
        <p:txBody>
          <a:bodyPr/>
          <a:lstStyle/>
          <a:p>
            <a:r>
              <a:rPr lang="en-IN" b="1" i="1" dirty="0"/>
              <a:t>Architecture Overview</a:t>
            </a:r>
            <a:endParaRPr lang="en-IN" i="1" dirty="0"/>
          </a:p>
        </p:txBody>
      </p:sp>
      <p:sp>
        <p:nvSpPr>
          <p:cNvPr id="4" name="Rectangle 1">
            <a:extLst>
              <a:ext uri="{FF2B5EF4-FFF2-40B4-BE49-F238E27FC236}">
                <a16:creationId xmlns:a16="http://schemas.microsoft.com/office/drawing/2014/main" id="{54855E64-FD16-3A66-E772-81AD817C9FA7}"/>
              </a:ext>
            </a:extLst>
          </p:cNvPr>
          <p:cNvSpPr>
            <a:spLocks noGrp="1" noChangeArrowheads="1"/>
          </p:cNvSpPr>
          <p:nvPr>
            <p:ph idx="1"/>
          </p:nvPr>
        </p:nvSpPr>
        <p:spPr bwMode="auto">
          <a:xfrm>
            <a:off x="188536" y="1851977"/>
            <a:ext cx="8503611"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 Processes </a:t>
            </a:r>
            <a:r>
              <a:rPr kumimoji="0" lang="en-US" altLang="en-US" sz="2400" i="0" u="none" strike="noStrike" cap="none" normalizeH="0" baseline="0" dirty="0">
                <a:ln>
                  <a:noFill/>
                </a:ln>
                <a:solidFill>
                  <a:schemeClr val="tx1"/>
                </a:solidFill>
                <a:effectLst/>
                <a:latin typeface="Arial" panose="020B0604020202020204" pitchFamily="34" charset="0"/>
              </a:rPr>
              <a:t>Real-time (ATM &amp; UPI) </a:t>
            </a:r>
            <a:r>
              <a:rPr kumimoji="0" lang="en-US" altLang="en-US" sz="2400" b="0" i="0" u="none" strike="noStrike" cap="none" normalizeH="0" baseline="0" dirty="0">
                <a:ln>
                  <a:noFill/>
                </a:ln>
                <a:solidFill>
                  <a:schemeClr val="tx1"/>
                </a:solidFill>
                <a:effectLst/>
                <a:latin typeface="Arial" panose="020B0604020202020204" pitchFamily="34" charset="0"/>
              </a:rPr>
              <a:t>and </a:t>
            </a:r>
            <a:r>
              <a:rPr kumimoji="0" lang="en-US" altLang="en-US" sz="2400" i="0" u="none" strike="noStrike" cap="none" normalizeH="0" baseline="0" dirty="0">
                <a:ln>
                  <a:noFill/>
                </a:ln>
                <a:solidFill>
                  <a:schemeClr val="tx1"/>
                </a:solidFill>
                <a:effectLst/>
                <a:latin typeface="Arial" panose="020B0604020202020204" pitchFamily="34" charset="0"/>
              </a:rPr>
              <a:t>Batch (daily files) </a:t>
            </a:r>
            <a:r>
              <a:rPr kumimoji="0" lang="en-US" altLang="en-US" sz="2400" b="0" i="0" u="none" strike="noStrike" cap="none" normalizeH="0" baseline="0" dirty="0">
                <a:ln>
                  <a:noFill/>
                </a:ln>
                <a:solidFill>
                  <a:schemeClr val="tx1"/>
                </a:solidFill>
                <a:effectLst/>
                <a:latin typeface="Arial" panose="020B0604020202020204" pitchFamily="34" charset="0"/>
              </a:rPr>
              <a:t>data.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Arial" panose="020B0604020202020204" pitchFamily="34" charset="0"/>
              </a:rPr>
              <a:t> Event Grid </a:t>
            </a:r>
            <a:r>
              <a:rPr kumimoji="0" lang="en-US" altLang="en-US" sz="2400" b="0" i="0" u="none" strike="noStrike" cap="none" normalizeH="0" baseline="0" dirty="0">
                <a:ln>
                  <a:noFill/>
                </a:ln>
                <a:solidFill>
                  <a:schemeClr val="tx1"/>
                </a:solidFill>
                <a:effectLst/>
                <a:latin typeface="Arial" panose="020B0604020202020204" pitchFamily="34" charset="0"/>
              </a:rPr>
              <a:t>triggers </a:t>
            </a:r>
            <a:r>
              <a:rPr kumimoji="0" lang="en-US" altLang="en-US" sz="2400" i="0" u="none" strike="noStrike" cap="none" normalizeH="0" baseline="0" dirty="0">
                <a:ln>
                  <a:noFill/>
                </a:ln>
                <a:solidFill>
                  <a:schemeClr val="tx1"/>
                </a:solidFill>
                <a:effectLst/>
                <a:latin typeface="Arial" panose="020B0604020202020204" pitchFamily="34" charset="0"/>
              </a:rPr>
              <a:t>Azure Functions </a:t>
            </a:r>
            <a:r>
              <a:rPr kumimoji="0" lang="en-US" altLang="en-US" sz="2400" b="0" i="0" u="none" strike="noStrike" cap="none" normalizeH="0" baseline="0" dirty="0">
                <a:ln>
                  <a:noFill/>
                </a:ln>
                <a:solidFill>
                  <a:schemeClr val="tx1"/>
                </a:solidFill>
                <a:effectLst/>
                <a:latin typeface="Arial" panose="020B0604020202020204" pitchFamily="34" charset="0"/>
              </a:rPr>
              <a:t>for cleaning and validation.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Arial" panose="020B0604020202020204" pitchFamily="34" charset="0"/>
              </a:rPr>
              <a:t> Service Bus </a:t>
            </a:r>
            <a:r>
              <a:rPr kumimoji="0" lang="en-US" altLang="en-US" sz="2400" b="0" i="0" u="none" strike="noStrike" cap="none" normalizeH="0" baseline="0" dirty="0">
                <a:ln>
                  <a:noFill/>
                </a:ln>
                <a:solidFill>
                  <a:schemeClr val="tx1"/>
                </a:solidFill>
                <a:effectLst/>
                <a:latin typeface="Arial" panose="020B0604020202020204" pitchFamily="34" charset="0"/>
              </a:rPr>
              <a:t>ensures safe message handling.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Arial" panose="020B0604020202020204" pitchFamily="34" charset="0"/>
              </a:rPr>
              <a:t> ADLS Gen2 </a:t>
            </a:r>
            <a:r>
              <a:rPr kumimoji="0" lang="en-US" altLang="en-US" sz="2400" b="0" i="0" u="none" strike="noStrike" cap="none" normalizeH="0" baseline="0" dirty="0">
                <a:ln>
                  <a:noFill/>
                </a:ln>
                <a:solidFill>
                  <a:schemeClr val="tx1"/>
                </a:solidFill>
                <a:effectLst/>
                <a:latin typeface="Arial" panose="020B0604020202020204" pitchFamily="34" charset="0"/>
              </a:rPr>
              <a:t>stores raw, cleaned, and processed data.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Arial" panose="020B0604020202020204" pitchFamily="34" charset="0"/>
              </a:rPr>
              <a:t> Cosmos DB </a:t>
            </a:r>
            <a:r>
              <a:rPr kumimoji="0" lang="en-US" altLang="en-US" sz="2400" b="0" i="0" u="none" strike="noStrike" cap="none" normalizeH="0" baseline="0" dirty="0">
                <a:ln>
                  <a:noFill/>
                </a:ln>
                <a:solidFill>
                  <a:schemeClr val="tx1"/>
                </a:solidFill>
                <a:effectLst/>
                <a:latin typeface="Arial" panose="020B0604020202020204" pitchFamily="34" charset="0"/>
              </a:rPr>
              <a:t>holds fast-access real-time transactions.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Arial" panose="020B0604020202020204" pitchFamily="34" charset="0"/>
              </a:rPr>
              <a:t> SQL Data Warehouse </a:t>
            </a:r>
            <a:r>
              <a:rPr kumimoji="0" lang="en-US" altLang="en-US" sz="2400" b="0" i="0" u="none" strike="noStrike" cap="none" normalizeH="0" baseline="0" dirty="0">
                <a:ln>
                  <a:noFill/>
                </a:ln>
                <a:solidFill>
                  <a:schemeClr val="tx1"/>
                </a:solidFill>
                <a:effectLst/>
                <a:latin typeface="Arial" panose="020B0604020202020204" pitchFamily="34" charset="0"/>
              </a:rPr>
              <a:t>supports analytics, reports, and dashboards.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 Ensures </a:t>
            </a:r>
            <a:r>
              <a:rPr kumimoji="0" lang="en-US" altLang="en-US" sz="2400" i="0" u="none" strike="noStrike" cap="none" normalizeH="0" baseline="0" dirty="0">
                <a:ln>
                  <a:noFill/>
                </a:ln>
                <a:solidFill>
                  <a:schemeClr val="tx1"/>
                </a:solidFill>
                <a:effectLst/>
                <a:latin typeface="Arial" panose="020B0604020202020204" pitchFamily="34" charset="0"/>
              </a:rPr>
              <a:t>fast processing, secure storage, and seamless reporting.</a:t>
            </a:r>
          </a:p>
        </p:txBody>
      </p:sp>
    </p:spTree>
    <p:extLst>
      <p:ext uri="{BB962C8B-B14F-4D97-AF65-F5344CB8AC3E}">
        <p14:creationId xmlns:p14="http://schemas.microsoft.com/office/powerpoint/2010/main" val="24673085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Data Ingestion Setup</a:t>
            </a:r>
            <a:endParaRPr b="1" dirty="0"/>
          </a:p>
        </p:txBody>
      </p:sp>
      <p:sp>
        <p:nvSpPr>
          <p:cNvPr id="3" name="Content Placeholder 2"/>
          <p:cNvSpPr>
            <a:spLocks noGrp="1"/>
          </p:cNvSpPr>
          <p:nvPr>
            <p:ph idx="1"/>
          </p:nvPr>
        </p:nvSpPr>
        <p:spPr/>
        <p:txBody>
          <a:bodyPr>
            <a:normAutofit/>
          </a:bodyPr>
          <a:lstStyle/>
          <a:p>
            <a:r>
              <a:rPr lang="en-IN" dirty="0"/>
              <a:t>Azure Storage Account</a:t>
            </a:r>
            <a:r>
              <a:rPr lang="en-IN" b="1" dirty="0"/>
              <a:t>:</a:t>
            </a:r>
            <a:r>
              <a:rPr lang="en-IN" dirty="0"/>
              <a:t> Stores ATM &amp; UPI files.</a:t>
            </a:r>
          </a:p>
          <a:p>
            <a:r>
              <a:rPr lang="en-IN" dirty="0"/>
              <a:t>Containers/Folders</a:t>
            </a:r>
            <a:r>
              <a:rPr lang="en-IN" b="1" dirty="0"/>
              <a:t>:</a:t>
            </a:r>
            <a:r>
              <a:rPr lang="en-IN" dirty="0"/>
              <a:t> Organise data efficiently.</a:t>
            </a:r>
          </a:p>
          <a:p>
            <a:r>
              <a:rPr lang="en-IN" dirty="0"/>
              <a:t>Event Grid</a:t>
            </a:r>
            <a:r>
              <a:rPr lang="en-IN" b="1" dirty="0"/>
              <a:t>:</a:t>
            </a:r>
            <a:r>
              <a:rPr lang="en-IN" dirty="0"/>
              <a:t> Automatically detects new file uploads.</a:t>
            </a:r>
          </a:p>
          <a:p>
            <a:r>
              <a:rPr lang="en-IN" dirty="0"/>
              <a:t>Queue</a:t>
            </a:r>
            <a:r>
              <a:rPr lang="en-IN" b="1" dirty="0"/>
              <a:t>:</a:t>
            </a:r>
            <a:r>
              <a:rPr lang="en-IN" dirty="0"/>
              <a:t> Holds file metadata for processing.</a:t>
            </a:r>
          </a:p>
          <a:p>
            <a:r>
              <a:rPr lang="en-IN" dirty="0"/>
              <a:t>Azure Functions</a:t>
            </a:r>
            <a:r>
              <a:rPr lang="en-IN" b="1" dirty="0"/>
              <a:t>:</a:t>
            </a:r>
            <a:r>
              <a:rPr lang="en-IN" dirty="0"/>
              <a:t> Automates data cleaning and forwarding.</a:t>
            </a:r>
          </a:p>
          <a:p>
            <a:r>
              <a:rPr lang="en-IN" dirty="0"/>
              <a:t>Purpose</a:t>
            </a:r>
            <a:r>
              <a:rPr lang="en-IN" b="1" dirty="0"/>
              <a:t>:</a:t>
            </a:r>
            <a:endParaRPr lang="en-IN" dirty="0"/>
          </a:p>
          <a:p>
            <a:r>
              <a:rPr lang="en-IN" dirty="0"/>
              <a:t>Automatically detect and process new files efficiently.</a:t>
            </a:r>
          </a:p>
          <a:p>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Data Processing &amp; Cleaning</a:t>
            </a:r>
            <a:endParaRPr b="1" dirty="0"/>
          </a:p>
        </p:txBody>
      </p:sp>
      <p:sp>
        <p:nvSpPr>
          <p:cNvPr id="3" name="Content Placeholder 2"/>
          <p:cNvSpPr>
            <a:spLocks noGrp="1"/>
          </p:cNvSpPr>
          <p:nvPr>
            <p:ph idx="1"/>
          </p:nvPr>
        </p:nvSpPr>
        <p:spPr/>
        <p:txBody>
          <a:bodyPr>
            <a:normAutofit/>
          </a:bodyPr>
          <a:lstStyle/>
          <a:p>
            <a:r>
              <a:rPr lang="en-US" dirty="0"/>
              <a:t>Function reads files from storage when uploaded </a:t>
            </a:r>
          </a:p>
          <a:p>
            <a:r>
              <a:rPr lang="en-US" dirty="0"/>
              <a:t> Checks if file data is complete </a:t>
            </a:r>
          </a:p>
          <a:p>
            <a:r>
              <a:rPr lang="en-US" dirty="0"/>
              <a:t> Removes duplicate transactions </a:t>
            </a:r>
          </a:p>
          <a:p>
            <a:r>
              <a:rPr lang="en-US" dirty="0"/>
              <a:t> Splits data into ATM and UPI types </a:t>
            </a:r>
          </a:p>
          <a:p>
            <a:r>
              <a:rPr lang="en-US" dirty="0"/>
              <a:t>Stores cleaned data in Cosmos DB </a:t>
            </a:r>
          </a:p>
          <a:p>
            <a:r>
              <a:rPr lang="en-US" dirty="0"/>
              <a:t>Purpose: To ensure data is clean, correct, and ready to use.</a:t>
            </a:r>
          </a:p>
          <a:p>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b="1" dirty="0"/>
              <a:t>Cosmos DB Setup &amp; Data Storage</a:t>
            </a:r>
            <a:endParaRPr b="1" dirty="0"/>
          </a:p>
        </p:txBody>
      </p:sp>
      <p:sp>
        <p:nvSpPr>
          <p:cNvPr id="3" name="Content Placeholder 2"/>
          <p:cNvSpPr>
            <a:spLocks noGrp="1"/>
          </p:cNvSpPr>
          <p:nvPr>
            <p:ph idx="1"/>
          </p:nvPr>
        </p:nvSpPr>
        <p:spPr/>
        <p:txBody>
          <a:bodyPr>
            <a:normAutofit/>
          </a:bodyPr>
          <a:lstStyle/>
          <a:p>
            <a:r>
              <a:rPr lang="en-IN" dirty="0"/>
              <a:t>Created a database called </a:t>
            </a:r>
            <a:r>
              <a:rPr lang="en-IN" dirty="0" err="1"/>
              <a:t>BankDB</a:t>
            </a:r>
            <a:r>
              <a:rPr lang="en-IN" dirty="0"/>
              <a:t> </a:t>
            </a:r>
          </a:p>
          <a:p>
            <a:r>
              <a:rPr lang="en-IN" dirty="0"/>
              <a:t> Created containers for ATM, UPI, Customer Profile, and Fraud Alerts </a:t>
            </a:r>
          </a:p>
          <a:p>
            <a:r>
              <a:rPr lang="en-IN" dirty="0"/>
              <a:t> Stored cleaned data in these containers. Used CustomerID and </a:t>
            </a:r>
            <a:r>
              <a:rPr lang="en-IN" dirty="0" err="1"/>
              <a:t>TransactionID</a:t>
            </a:r>
            <a:r>
              <a:rPr lang="en-IN" dirty="0"/>
              <a:t> as partition keys for faster search</a:t>
            </a:r>
          </a:p>
          <a:p>
            <a:r>
              <a:rPr lang="en-IN" dirty="0"/>
              <a:t> Purpose: To store data safely in a fast, flexible NoSQL database.</a:t>
            </a: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5736" y="274638"/>
            <a:ext cx="8229600" cy="1143000"/>
          </a:xfrm>
        </p:spPr>
        <p:txBody>
          <a:bodyPr>
            <a:normAutofit/>
          </a:bodyPr>
          <a:lstStyle/>
          <a:p>
            <a:r>
              <a:rPr lang="en-IN" b="1" dirty="0"/>
              <a:t>Data Transformation with </a:t>
            </a:r>
            <a:r>
              <a:rPr lang="en-IN" b="1" dirty="0" err="1"/>
              <a:t>PySpark</a:t>
            </a:r>
            <a:endParaRPr b="1" dirty="0"/>
          </a:p>
        </p:txBody>
      </p:sp>
      <p:sp>
        <p:nvSpPr>
          <p:cNvPr id="3" name="Content Placeholder 2"/>
          <p:cNvSpPr>
            <a:spLocks noGrp="1"/>
          </p:cNvSpPr>
          <p:nvPr>
            <p:ph idx="1"/>
          </p:nvPr>
        </p:nvSpPr>
        <p:spPr/>
        <p:txBody>
          <a:bodyPr>
            <a:normAutofit/>
          </a:bodyPr>
          <a:lstStyle/>
          <a:p>
            <a:r>
              <a:rPr lang="en-US" dirty="0"/>
              <a:t>Used </a:t>
            </a:r>
            <a:r>
              <a:rPr lang="en-US" dirty="0" err="1"/>
              <a:t>PySpark</a:t>
            </a:r>
            <a:r>
              <a:rPr lang="en-US" dirty="0"/>
              <a:t> to read raw data from storage and Cosmos DB</a:t>
            </a:r>
          </a:p>
          <a:p>
            <a:r>
              <a:rPr lang="en-US" dirty="0"/>
              <a:t> Cleaned data: fixed date formats, corrected missing values</a:t>
            </a:r>
          </a:p>
          <a:p>
            <a:r>
              <a:rPr lang="en-US" dirty="0"/>
              <a:t> Combined ATM and UPI data into a single table</a:t>
            </a:r>
          </a:p>
          <a:p>
            <a:endParaRPr lang="en-US" dirty="0"/>
          </a:p>
          <a:p>
            <a:r>
              <a:rPr lang="en-US" dirty="0"/>
              <a:t> Stored cleaned data into Bronze, Silver, and Gold layers</a:t>
            </a:r>
          </a:p>
          <a:p>
            <a:endParaRPr lang="en-US" dirty="0"/>
          </a:p>
          <a:p>
            <a:r>
              <a:rPr lang="en-US" dirty="0"/>
              <a:t>Purpose: To prepare clean and final data for reporting and analysis.</a:t>
            </a:r>
          </a:p>
          <a:p>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SQL Data Warehouse Setup</a:t>
            </a:r>
            <a:endParaRPr b="1" dirty="0"/>
          </a:p>
        </p:txBody>
      </p:sp>
      <p:sp>
        <p:nvSpPr>
          <p:cNvPr id="3" name="Content Placeholder 2"/>
          <p:cNvSpPr>
            <a:spLocks noGrp="1"/>
          </p:cNvSpPr>
          <p:nvPr>
            <p:ph idx="1"/>
          </p:nvPr>
        </p:nvSpPr>
        <p:spPr/>
        <p:txBody>
          <a:bodyPr>
            <a:normAutofit/>
          </a:bodyPr>
          <a:lstStyle/>
          <a:p>
            <a:r>
              <a:rPr lang="en-US" dirty="0"/>
              <a:t> Created SQL tables for Customers, Accounts, Branch, Date</a:t>
            </a:r>
          </a:p>
          <a:p>
            <a:r>
              <a:rPr lang="en-US" dirty="0"/>
              <a:t>Created Fact tables for transactions and fraud</a:t>
            </a:r>
          </a:p>
          <a:p>
            <a:r>
              <a:rPr lang="en-US" dirty="0"/>
              <a:t> Loaded final data into SQL Data Warehouse</a:t>
            </a:r>
          </a:p>
          <a:p>
            <a:r>
              <a:rPr lang="en-US" dirty="0"/>
              <a:t> Ensured everything is ready for Power BI</a:t>
            </a:r>
          </a:p>
          <a:p>
            <a:r>
              <a:rPr lang="en-US" dirty="0"/>
              <a:t>Purpose: To store final structured data for reports.</a:t>
            </a:r>
          </a:p>
          <a:p>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Real-Time Fraud Detection</a:t>
            </a:r>
          </a:p>
        </p:txBody>
      </p:sp>
      <p:sp>
        <p:nvSpPr>
          <p:cNvPr id="3" name="Content Placeholder 2"/>
          <p:cNvSpPr>
            <a:spLocks noGrp="1"/>
          </p:cNvSpPr>
          <p:nvPr>
            <p:ph idx="1"/>
          </p:nvPr>
        </p:nvSpPr>
        <p:spPr/>
        <p:txBody>
          <a:bodyPr>
            <a:normAutofit/>
          </a:bodyPr>
          <a:lstStyle/>
          <a:p>
            <a:r>
              <a:rPr lang="en-US" dirty="0"/>
              <a:t>Set rules to detect suspicious transactions</a:t>
            </a:r>
          </a:p>
          <a:p>
            <a:r>
              <a:rPr lang="en-US" dirty="0"/>
              <a:t> Checked for big withdrawals or unusual patterns</a:t>
            </a:r>
          </a:p>
          <a:p>
            <a:r>
              <a:rPr lang="en-US" dirty="0"/>
              <a:t> Stored alerts in </a:t>
            </a:r>
            <a:r>
              <a:rPr lang="en-US" dirty="0" err="1"/>
              <a:t>FraudAlerts</a:t>
            </a:r>
            <a:r>
              <a:rPr lang="en-US" dirty="0"/>
              <a:t> container</a:t>
            </a:r>
          </a:p>
          <a:p>
            <a:r>
              <a:rPr lang="en-US" dirty="0"/>
              <a:t> Triggered notification messages</a:t>
            </a:r>
          </a:p>
          <a:p>
            <a:r>
              <a:rPr lang="en-US" dirty="0"/>
              <a:t>Purpose: To catch fraud quickly and notify users.</a:t>
            </a:r>
          </a:p>
          <a:p>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CI/CD Pipeline</a:t>
            </a:r>
          </a:p>
        </p:txBody>
      </p:sp>
      <p:sp>
        <p:nvSpPr>
          <p:cNvPr id="3" name="Content Placeholder 2"/>
          <p:cNvSpPr>
            <a:spLocks noGrp="1"/>
          </p:cNvSpPr>
          <p:nvPr>
            <p:ph idx="1"/>
          </p:nvPr>
        </p:nvSpPr>
        <p:spPr/>
        <p:txBody>
          <a:bodyPr>
            <a:normAutofit/>
          </a:bodyPr>
          <a:lstStyle/>
          <a:p>
            <a:r>
              <a:rPr lang="en-US" dirty="0"/>
              <a:t> Automated Azure Function deployment</a:t>
            </a:r>
          </a:p>
          <a:p>
            <a:r>
              <a:rPr lang="en-US" dirty="0"/>
              <a:t>Automated </a:t>
            </a:r>
            <a:r>
              <a:rPr lang="en-US" dirty="0" err="1"/>
              <a:t>PySpark</a:t>
            </a:r>
            <a:r>
              <a:rPr lang="en-US" dirty="0"/>
              <a:t> file syncing</a:t>
            </a:r>
          </a:p>
          <a:p>
            <a:r>
              <a:rPr lang="en-US" dirty="0"/>
              <a:t> Automated SQL table updates</a:t>
            </a:r>
          </a:p>
          <a:p>
            <a:r>
              <a:rPr lang="en-US" dirty="0"/>
              <a:t> Used GitHub Actions to run pipeline</a:t>
            </a:r>
          </a:p>
          <a:p>
            <a:r>
              <a:rPr lang="en-US" dirty="0"/>
              <a:t>Monitors pipeline status for quick issue detection</a:t>
            </a:r>
          </a:p>
          <a:p>
            <a:r>
              <a:rPr lang="en-US" dirty="0"/>
              <a:t>Purpose: To save time and reduce manual mistakes.</a:t>
            </a:r>
          </a:p>
          <a:p>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Power BI Dashboards</a:t>
            </a:r>
          </a:p>
        </p:txBody>
      </p:sp>
      <p:sp>
        <p:nvSpPr>
          <p:cNvPr id="3" name="Content Placeholder 2"/>
          <p:cNvSpPr>
            <a:spLocks noGrp="1"/>
          </p:cNvSpPr>
          <p:nvPr>
            <p:ph idx="1"/>
          </p:nvPr>
        </p:nvSpPr>
        <p:spPr/>
        <p:txBody>
          <a:bodyPr>
            <a:normAutofit/>
          </a:bodyPr>
          <a:lstStyle/>
          <a:p>
            <a:r>
              <a:rPr lang="en-IN" dirty="0"/>
              <a:t>Dashboards Created:</a:t>
            </a:r>
          </a:p>
          <a:p>
            <a:r>
              <a:rPr lang="en-IN" dirty="0"/>
              <a:t>ATM transaction dashboard</a:t>
            </a:r>
          </a:p>
          <a:p>
            <a:r>
              <a:rPr lang="en-IN" dirty="0"/>
              <a:t> UPI transaction dashboard</a:t>
            </a:r>
          </a:p>
          <a:p>
            <a:r>
              <a:rPr lang="en-IN" dirty="0"/>
              <a:t> Fraud alerts dashboard</a:t>
            </a:r>
          </a:p>
          <a:p>
            <a:r>
              <a:rPr lang="en-IN" dirty="0"/>
              <a:t> Customer 360 dashboard</a:t>
            </a:r>
          </a:p>
          <a:p>
            <a:r>
              <a:rPr lang="en-IN" dirty="0"/>
              <a:t> Branch performance dashboard</a:t>
            </a:r>
          </a:p>
          <a:p>
            <a:endParaRPr lang="en-IN" dirty="0"/>
          </a:p>
          <a:p>
            <a:r>
              <a:rPr lang="en-IN" dirty="0"/>
              <a:t>Purpose: To make data easy to understand using visuals.</a:t>
            </a:r>
          </a:p>
          <a:p>
            <a:endParaRP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End-to-End Process</a:t>
            </a:r>
          </a:p>
        </p:txBody>
      </p:sp>
      <p:sp>
        <p:nvSpPr>
          <p:cNvPr id="3" name="Content Placeholder 2"/>
          <p:cNvSpPr>
            <a:spLocks noGrp="1"/>
          </p:cNvSpPr>
          <p:nvPr>
            <p:ph idx="1"/>
          </p:nvPr>
        </p:nvSpPr>
        <p:spPr/>
        <p:txBody>
          <a:bodyPr>
            <a:normAutofit lnSpcReduction="10000"/>
          </a:bodyPr>
          <a:lstStyle/>
          <a:p>
            <a:pPr marL="0" indent="0">
              <a:buNone/>
            </a:pPr>
            <a:endParaRPr lang="en-IN" dirty="0"/>
          </a:p>
          <a:p>
            <a:r>
              <a:rPr lang="en-IN" dirty="0"/>
              <a:t> File uploaded to Azure</a:t>
            </a:r>
          </a:p>
          <a:p>
            <a:r>
              <a:rPr lang="en-IN" dirty="0"/>
              <a:t> Event Grid detects file</a:t>
            </a:r>
          </a:p>
          <a:p>
            <a:r>
              <a:rPr lang="en-IN" dirty="0"/>
              <a:t> Azure Function cleans and processes data</a:t>
            </a:r>
          </a:p>
          <a:p>
            <a:r>
              <a:rPr lang="en-IN" dirty="0"/>
              <a:t> Data stored in Cosmos DB and SQL</a:t>
            </a:r>
          </a:p>
          <a:p>
            <a:r>
              <a:rPr lang="en-IN" dirty="0"/>
              <a:t> </a:t>
            </a:r>
            <a:r>
              <a:rPr lang="en-IN" dirty="0" err="1"/>
              <a:t>PySpark</a:t>
            </a:r>
            <a:r>
              <a:rPr lang="en-IN" dirty="0"/>
              <a:t> creates final tables</a:t>
            </a:r>
          </a:p>
          <a:p>
            <a:r>
              <a:rPr lang="en-IN" dirty="0"/>
              <a:t> Power BI shows updated dashboards</a:t>
            </a:r>
          </a:p>
          <a:p>
            <a:r>
              <a:rPr lang="en-IN" dirty="0"/>
              <a:t> Fraud rules check transactions</a:t>
            </a:r>
          </a:p>
          <a:p>
            <a:endParaRPr lang="en-IN" dirty="0"/>
          </a:p>
          <a:p>
            <a:r>
              <a:rPr lang="en-IN" dirty="0"/>
              <a:t>Purpose: A fully working banking data pipeline.</a:t>
            </a:r>
          </a:p>
          <a:p>
            <a:pPr marL="0" indent="0">
              <a:buNone/>
            </a:pPr>
            <a:endParaRPr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FC304-009C-3F06-92B2-CCD7FB0A8823}"/>
              </a:ext>
            </a:extLst>
          </p:cNvPr>
          <p:cNvSpPr>
            <a:spLocks noGrp="1"/>
          </p:cNvSpPr>
          <p:nvPr>
            <p:ph type="title"/>
          </p:nvPr>
        </p:nvSpPr>
        <p:spPr/>
        <p:txBody>
          <a:bodyPr/>
          <a:lstStyle/>
          <a:p>
            <a:r>
              <a:rPr lang="en-IN" b="1" dirty="0"/>
              <a:t>Challenges</a:t>
            </a:r>
          </a:p>
        </p:txBody>
      </p:sp>
      <p:sp>
        <p:nvSpPr>
          <p:cNvPr id="4" name="Rectangle 1">
            <a:extLst>
              <a:ext uri="{FF2B5EF4-FFF2-40B4-BE49-F238E27FC236}">
                <a16:creationId xmlns:a16="http://schemas.microsoft.com/office/drawing/2014/main" id="{292279B3-C068-52F5-1B40-BB4D9F74485A}"/>
              </a:ext>
            </a:extLst>
          </p:cNvPr>
          <p:cNvSpPr>
            <a:spLocks noGrp="1" noChangeArrowheads="1"/>
          </p:cNvSpPr>
          <p:nvPr>
            <p:ph idx="1"/>
          </p:nvPr>
        </p:nvSpPr>
        <p:spPr bwMode="auto">
          <a:xfrm>
            <a:off x="631595" y="1783867"/>
            <a:ext cx="7322450"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 Handling </a:t>
            </a:r>
            <a:r>
              <a:rPr kumimoji="0" lang="en-US" altLang="en-US" sz="2400" i="0" u="none" strike="noStrike" cap="none" normalizeH="0" baseline="0" dirty="0">
                <a:ln>
                  <a:noFill/>
                </a:ln>
                <a:solidFill>
                  <a:schemeClr val="tx1"/>
                </a:solidFill>
                <a:effectLst/>
                <a:latin typeface="Arial" panose="020B0604020202020204" pitchFamily="34" charset="0"/>
              </a:rPr>
              <a:t>high-volume real-time data </a:t>
            </a:r>
            <a:r>
              <a:rPr kumimoji="0" lang="en-US" altLang="en-US" sz="2400" b="0" i="0" u="none" strike="noStrike" cap="none" normalizeH="0" baseline="0" dirty="0">
                <a:ln>
                  <a:noFill/>
                </a:ln>
                <a:solidFill>
                  <a:schemeClr val="tx1"/>
                </a:solidFill>
                <a:effectLst/>
                <a:latin typeface="Arial" panose="020B0604020202020204" pitchFamily="34" charset="0"/>
              </a:rPr>
              <a:t>efficiently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 Ensuring </a:t>
            </a:r>
            <a:r>
              <a:rPr kumimoji="0" lang="en-US" altLang="en-US" sz="2400" i="0" u="none" strike="noStrike" cap="none" normalizeH="0" baseline="0" dirty="0">
                <a:ln>
                  <a:noFill/>
                </a:ln>
                <a:solidFill>
                  <a:schemeClr val="tx1"/>
                </a:solidFill>
                <a:effectLst/>
                <a:latin typeface="Arial" panose="020B0604020202020204" pitchFamily="34" charset="0"/>
              </a:rPr>
              <a:t>data quality and consistency </a:t>
            </a:r>
            <a:r>
              <a:rPr kumimoji="0" lang="en-US" altLang="en-US" sz="2400" b="0" i="0" u="none" strike="noStrike" cap="none" normalizeH="0" baseline="0" dirty="0">
                <a:ln>
                  <a:noFill/>
                </a:ln>
                <a:solidFill>
                  <a:schemeClr val="tx1"/>
                </a:solidFill>
                <a:effectLst/>
                <a:latin typeface="Arial" panose="020B0604020202020204" pitchFamily="34" charset="0"/>
              </a:rPr>
              <a:t>across sources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 Designing </a:t>
            </a:r>
            <a:r>
              <a:rPr kumimoji="0" lang="en-US" altLang="en-US" sz="2400" i="0" u="none" strike="noStrike" cap="none" normalizeH="0" baseline="0" dirty="0">
                <a:ln>
                  <a:noFill/>
                </a:ln>
                <a:solidFill>
                  <a:schemeClr val="tx1"/>
                </a:solidFill>
                <a:effectLst/>
                <a:latin typeface="Arial" panose="020B0604020202020204" pitchFamily="34" charset="0"/>
              </a:rPr>
              <a:t>secure and scalable storage </a:t>
            </a:r>
            <a:r>
              <a:rPr kumimoji="0" lang="en-US" altLang="en-US" sz="2400" b="0" i="0" u="none" strike="noStrike" cap="none" normalizeH="0" baseline="0" dirty="0">
                <a:ln>
                  <a:noFill/>
                </a:ln>
                <a:solidFill>
                  <a:schemeClr val="tx1"/>
                </a:solidFill>
                <a:effectLst/>
                <a:latin typeface="Arial" panose="020B0604020202020204" pitchFamily="34" charset="0"/>
              </a:rPr>
              <a:t>in the cloud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 Automating </a:t>
            </a:r>
            <a:r>
              <a:rPr kumimoji="0" lang="en-US" altLang="en-US" sz="2400" i="0" u="none" strike="noStrike" cap="none" normalizeH="0" baseline="0" dirty="0">
                <a:ln>
                  <a:noFill/>
                </a:ln>
                <a:solidFill>
                  <a:schemeClr val="tx1"/>
                </a:solidFill>
                <a:effectLst/>
                <a:latin typeface="Arial" panose="020B0604020202020204" pitchFamily="34" charset="0"/>
              </a:rPr>
              <a:t>end-to-end pipelines </a:t>
            </a:r>
            <a:r>
              <a:rPr kumimoji="0" lang="en-US" altLang="en-US" sz="2400" b="0" i="0" u="none" strike="noStrike" cap="none" normalizeH="0" baseline="0" dirty="0">
                <a:ln>
                  <a:noFill/>
                </a:ln>
                <a:solidFill>
                  <a:schemeClr val="tx1"/>
                </a:solidFill>
                <a:effectLst/>
                <a:latin typeface="Arial" panose="020B0604020202020204" pitchFamily="34" charset="0"/>
              </a:rPr>
              <a:t>without errors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 Integrating multiple </a:t>
            </a:r>
            <a:r>
              <a:rPr kumimoji="0" lang="en-US" altLang="en-US" sz="2400" i="0" u="none" strike="noStrike" cap="none" normalizeH="0" baseline="0" dirty="0">
                <a:ln>
                  <a:noFill/>
                </a:ln>
                <a:solidFill>
                  <a:schemeClr val="tx1"/>
                </a:solidFill>
                <a:effectLst/>
                <a:latin typeface="Arial" panose="020B0604020202020204" pitchFamily="34" charset="0"/>
              </a:rPr>
              <a:t>Azure services seamlessly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6220693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FBEF07-775E-6D8E-2C08-AD2E8CA97CE4}"/>
              </a:ext>
            </a:extLst>
          </p:cNvPr>
          <p:cNvSpPr>
            <a:spLocks noGrp="1"/>
          </p:cNvSpPr>
          <p:nvPr>
            <p:ph type="title"/>
          </p:nvPr>
        </p:nvSpPr>
        <p:spPr>
          <a:xfrm>
            <a:off x="457200" y="1536569"/>
            <a:ext cx="8229600" cy="2224725"/>
          </a:xfrm>
        </p:spPr>
        <p:txBody>
          <a:bodyPr>
            <a:normAutofit/>
          </a:bodyPr>
          <a:lstStyle/>
          <a:p>
            <a:r>
              <a:rPr lang="en-IN" sz="6600" dirty="0"/>
              <a:t>Thank You</a:t>
            </a:r>
          </a:p>
        </p:txBody>
      </p:sp>
    </p:spTree>
    <p:extLst>
      <p:ext uri="{BB962C8B-B14F-4D97-AF65-F5344CB8AC3E}">
        <p14:creationId xmlns:p14="http://schemas.microsoft.com/office/powerpoint/2010/main" val="3343101298"/>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82</TotalTime>
  <Words>682</Words>
  <Application>Microsoft Office PowerPoint</Application>
  <PresentationFormat>On-screen Show (4:3)</PresentationFormat>
  <Paragraphs>92</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Trebuchet MS</vt:lpstr>
      <vt:lpstr>Wingdings 3</vt:lpstr>
      <vt:lpstr>Facet</vt:lpstr>
      <vt:lpstr>Project Title</vt:lpstr>
      <vt:lpstr>Objective of the Project</vt:lpstr>
      <vt:lpstr>Architecture Overview</vt:lpstr>
      <vt:lpstr>Data Ingestion Setup</vt:lpstr>
      <vt:lpstr>Data Processing &amp; Cleaning</vt:lpstr>
      <vt:lpstr>Cosmos DB Setup &amp; Data Storage</vt:lpstr>
      <vt:lpstr>Data Transformation with PySpark</vt:lpstr>
      <vt:lpstr>SQL Data Warehouse Setup</vt:lpstr>
      <vt:lpstr>Real-Time Fraud Detection</vt:lpstr>
      <vt:lpstr>CI/CD Pipeline</vt:lpstr>
      <vt:lpstr>Power BI Dashboards</vt:lpstr>
      <vt:lpstr>End-to-End Process</vt:lpstr>
      <vt:lpstr>Challenges</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vinitha</dc:creator>
  <cp:keywords/>
  <dc:description>generated using python-pptx</dc:description>
  <cp:lastModifiedBy>Sneha Yasam</cp:lastModifiedBy>
  <cp:revision>3</cp:revision>
  <dcterms:created xsi:type="dcterms:W3CDTF">2013-01-27T09:14:16Z</dcterms:created>
  <dcterms:modified xsi:type="dcterms:W3CDTF">2025-12-10T07:08:32Z</dcterms:modified>
  <cp:category/>
</cp:coreProperties>
</file>